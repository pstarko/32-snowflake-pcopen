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E9F2FD15-971E-4254-9B38-B997329F4FFA}"/>
    <pc:docChg chg="modSld">
      <pc:chgData name="Przemyslaw Starosta" userId="45f988447864b3e6" providerId="LiveId" clId="{E9F2FD15-971E-4254-9B38-B997329F4FFA}" dt="2026-10-02T06:00:27.782" v="9" actId="6549"/>
      <pc:docMkLst>
        <pc:docMk/>
      </pc:docMkLst>
      <pc:sldChg chg="modSp mod">
        <pc:chgData name="Przemyslaw Starosta" userId="45f988447864b3e6" providerId="LiveId" clId="{E9F2FD15-971E-4254-9B38-B997329F4FFA}" dt="2026-10-02T06:00:27.782" v="9" actId="6549"/>
        <pc:sldMkLst>
          <pc:docMk/>
          <pc:sldMk cId="1406053493" sldId="256"/>
        </pc:sldMkLst>
        <pc:spChg chg="mod">
          <ac:chgData name="Przemyslaw Starosta" userId="45f988447864b3e6" providerId="LiveId" clId="{E9F2FD15-971E-4254-9B38-B997329F4FFA}" dt="2026-10-02T06:00:27.782" v="9" actId="6549"/>
          <ac:spMkLst>
            <pc:docMk/>
            <pc:sldMk cId="1406053493" sldId="256"/>
            <ac:spMk id="6" creationId="{00000000-0000-0000-0000-000000000000}"/>
          </ac:spMkLst>
        </pc:spChg>
      </pc:sldChg>
    </pc:docChg>
  </pc:docChgLst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10-01T14:16:13.122" v="1" actId="1076"/>
      <pc:docMkLst>
        <pc:docMk/>
      </pc:docMkLst>
      <pc:sldChg chg="modSp mod">
        <pc:chgData name="Przemyslaw Starosta" userId="45f988447864b3e6" providerId="LiveId" clId="{F03EAEFD-908B-4458-9CFE-E641CAF539F5}" dt="2026-10-01T14:16:09.014" v="0" actId="1076"/>
        <pc:sldMkLst>
          <pc:docMk/>
          <pc:sldMk cId="2400343101" sldId="261"/>
        </pc:sldMkLst>
        <pc:spChg chg="mod">
          <ac:chgData name="Przemyslaw Starosta" userId="45f988447864b3e6" providerId="LiveId" clId="{F03EAEFD-908B-4458-9CFE-E641CAF539F5}" dt="2026-10-01T14:16:09.014" v="0" actId="1076"/>
          <ac:spMkLst>
            <pc:docMk/>
            <pc:sldMk cId="2400343101" sldId="261"/>
            <ac:spMk id="4" creationId="{00000000-0000-0000-0000-000000000000}"/>
          </ac:spMkLst>
        </pc:spChg>
      </pc:sldChg>
      <pc:sldChg chg="modSp mod">
        <pc:chgData name="Przemyslaw Starosta" userId="45f988447864b3e6" providerId="LiveId" clId="{F03EAEFD-908B-4458-9CFE-E641CAF539F5}" dt="2026-10-01T14:16:13.122" v="1" actId="1076"/>
        <pc:sldMkLst>
          <pc:docMk/>
          <pc:sldMk cId="3531787478" sldId="262"/>
        </pc:sldMkLst>
        <pc:spChg chg="mod">
          <ac:chgData name="Przemyslaw Starosta" userId="45f988447864b3e6" providerId="LiveId" clId="{F03EAEFD-908B-4458-9CFE-E641CAF539F5}" dt="2026-10-01T14:16:13.122" v="1" actId="1076"/>
          <ac:spMkLst>
            <pc:docMk/>
            <pc:sldMk cId="3531787478" sldId="262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Kredyty / pełna godzina</c:v>
                </c:pt>
              </c:strCache>
            </c:strRef>
          </c:tx>
          <c:spPr>
            <a:solidFill>
              <a:srgbClr val="29B5E8"/>
            </a:solidFill>
            <a:ln>
              <a:noFill/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X-Small</c:v>
                </c:pt>
                <c:pt idx="1">
                  <c:v>Small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84-4DF7-ABC4-26B02DBC7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  <a:endParaRPr lang="pl-PL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4.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pl-PL"/>
          </a:p>
        </c:txPr>
        <c:crossAx val="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003BAF-B8CB-B38F-0770-495BEC768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BF7A997-58C6-4BBB-D58A-B9CD339DB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4A2718-B822-A7EC-97FA-FC836FBE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DE3CA09-A466-B068-EF48-F64FABF2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AAA9A1-071C-33B3-B13C-78809825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844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447003-3F09-5B54-18BA-7AB50446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8F16F6-507B-3F72-59D9-83AC7166F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8A37760-55B9-081C-6C72-D8D3AA712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02D8D8-00CD-5841-730C-C3216FC0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03BB12-7058-753E-969C-4EB34C23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197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A9D922-CFF5-64F3-1C8A-29C7BED0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CBF9E6E-BE9F-C2DD-654A-1C43BA293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3415EAB-7157-F21A-B9EC-5B621B4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D3F0190-3A17-09CF-DC24-90E8FAA0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F84E0-8884-1705-62D8-9CA5E6A0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445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74FE76-4092-46FF-9113-502740AF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72334F-7D7D-F7EE-A8AE-C1B02FE59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94598CE-A7BF-5BF4-CB9A-A5BF4B02C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EECA9F3-AF90-DEDD-4145-415E75DF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8F54F40-D4C8-6378-5D8E-0D2BA2EB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3AD17E5-638C-20F5-C899-D9C1D9D7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135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DCFE43-37B0-0A2E-2657-7E7F5832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887A36-9E63-8173-4601-838E92945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FF9A5BD-DBA3-2F48-156B-5F131A72D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3408058-B2A7-D0A1-E14D-CD996410A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914A7341-FEBB-34F0-628A-103E6264B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82B3A3D-293C-FF1B-CDE9-258A57D0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74A0756-5D3B-B411-1FF5-60735FA1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EE274E5-0B16-7411-93A0-B7C9479F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165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219AEC-51E6-66D9-05DC-C5F2E22F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E3CC2B9-4753-31B9-A7F0-37A5AF91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7BF7E51-DDE7-53D9-986A-8024A21E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B61261E-FB28-8940-55A3-96F095EE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87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6078259-6828-955A-3696-AF3CFE68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A7143F5-4C35-C1DF-3E60-13CEF344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780C174-B27B-D903-E096-21CB6045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911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353D5-E05E-4BA9-2CF1-3FBECC96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0086B8-E953-0E74-DC6E-9518CF10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78CCCEC-A426-9448-1B0B-22B4C68BB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C1D7A7E-5026-DCED-FBDF-E2203DF0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4B4F9B4-7CD9-F4CB-0C69-4633C1B8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765596-21E6-2387-F8A7-1FE6A003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576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7F98D6-C794-7708-BA87-040A2D54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61555C1-D622-2334-05F0-749204FC7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E838621-6126-A1F4-0B2A-3AC45F39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6192B7-0C38-6EE3-940A-B06227B4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147ECC9-89B9-F0B0-868A-7FDDB9DB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FC52910-F6A7-12AC-2EEA-40E6225E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826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73922A-DF86-2AA7-BF4C-F91A483D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5307792-62C3-E4A3-030C-0A440404C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4263F68-FFE5-E4E0-865F-1ABA8AF8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8107124-4C06-C55C-13E3-82916151A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B1AFF5-E685-C5F4-13C5-EB5EF515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421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C268312-B3ED-9AB7-3416-1EC8A6C04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F7D462E-54CA-DB1B-1502-52E53BEE0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D2737A-1942-FA38-AAE0-0039F25D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07E8A52-A21B-1A08-8717-6E4B5F7B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F58EF1E-7133-3664-7E45-32FB853C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341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672E308-6A13-9768-DDA0-C7CC61F0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07761F0-F30E-555F-F8B4-20D822FE8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579C979-8FDC-00F6-4314-31A71641D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1E38B-1178-414F-A884-7881400C887C}" type="datetimeFigureOut">
              <a:rPr lang="pl-PL" smtClean="0"/>
              <a:t>02.10.2026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868CEFB-F1BD-2C42-E89A-B6C0B5D49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941FB80-917A-742B-2FAA-3A55716C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B1757-64EC-48F1-B1D8-A287797ADF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779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-548640"/>
            <a:ext cx="4572000" cy="45720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80576" y="73152"/>
            <a:ext cx="3291840" cy="32918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56C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6949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6C7F1"/>
                </a:solidFill>
                <a:latin typeface="Aptos Display"/>
              </a:rPr>
              <a:t>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8092440" cy="66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l-PL" sz="4300" b="1" i="0" dirty="0">
                <a:solidFill>
                  <a:srgbClr val="FFFFFF"/>
                </a:solidFill>
                <a:latin typeface="Aptos Display"/>
              </a:rPr>
              <a:t>Snowflake</a:t>
            </a:r>
            <a:endParaRPr sz="43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8" y="3913632"/>
            <a:ext cx="6903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4F1FA"/>
                </a:solidFill>
                <a:latin typeface="Aptos"/>
              </a:rPr>
              <a:t>Wprowadzenie do platformy, architektury i kontroli kosztów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528" y="4846320"/>
            <a:ext cx="2907792" cy="0"/>
          </a:xfrm>
          <a:prstGeom prst="line">
            <a:avLst/>
          </a:prstGeom>
          <a:ln w="381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5528" y="50749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MATERIAŁ SZKOLENIOWY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605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-694944"/>
            <a:ext cx="3566160" cy="356616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56C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29B5E8"/>
                </a:solidFill>
                <a:latin typeface="Aptos Display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8046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Wstęp do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93008"/>
            <a:ext cx="7178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4F1FA"/>
                </a:solidFill>
                <a:latin typeface="Aptos"/>
              </a:rPr>
              <a:t>Platforma danych zaprojektowana od podstaw dla chmury — skalowalna, bezpieczna i zarządzana jako usługa.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983480"/>
            <a:ext cx="1143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CZYM JEST SNOWFLAKE?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Jedna platforma łączy przechowywanie, przetwarzanie i udostępnianie danych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528931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88036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9B5E8"/>
                </a:solidFill>
                <a:latin typeface="Aptos Display"/>
              </a:rPr>
              <a:t>DATA
CLOUD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700784"/>
            <a:ext cx="2331720" cy="2331720"/>
          </a:xfrm>
          <a:prstGeom prst="ellipse">
            <a:avLst/>
          </a:prstGeom>
          <a:solidFill>
            <a:srgbClr val="E8F7FC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3511296"/>
            <a:ext cx="365760" cy="36576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10128" y="3822191"/>
            <a:ext cx="228600" cy="2286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40280" y="4572000"/>
            <a:ext cx="164592" cy="164592"/>
          </a:xfrm>
          <a:prstGeom prst="ellipse">
            <a:avLst/>
          </a:prstGeom>
          <a:solidFill>
            <a:srgbClr val="17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828800"/>
            <a:ext cx="6995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Snowflake </a:t>
            </a:r>
            <a:r>
              <a:rPr sz="2200" b="0">
                <a:solidFill>
                  <a:srgbClr val="425466"/>
                </a:solidFill>
                <a:latin typeface="Aptos"/>
              </a:rPr>
              <a:t>to nowoczesna platforma analityczna działająca w chmurze.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862072"/>
            <a:ext cx="6903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Przechowuje i przetwarza </a:t>
            </a:r>
            <a:r>
              <a:rPr sz="1800">
                <a:solidFill>
                  <a:srgbClr val="425466"/>
                </a:solidFill>
                <a:latin typeface="Aptos"/>
              </a:rPr>
              <a:t>duże wolumeny danych bez zarządzania fizyczną infrastrukturą.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Dostęp przez internet </a:t>
            </a:r>
            <a:r>
              <a:rPr sz="1800">
                <a:solidFill>
                  <a:srgbClr val="425466"/>
                </a:solidFill>
                <a:latin typeface="Aptos"/>
              </a:rPr>
              <a:t>upraszcza administrację i przyspiesza pracę zespołów.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354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52A52-F136-08E3-757D-95DACB46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CECHY PLATFORMY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Moc rośnie wraz z potrzebą — bez przebudowy środowiska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9B5E8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47088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Skalowalność
i elastyczność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907792"/>
            <a:ext cx="374903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25466"/>
                </a:solidFill>
                <a:latin typeface="Aptos"/>
              </a:rPr>
              <a:t>Zwiększaj lub zmniejszaj zasoby obliczeniowe zależnie od obciążenia i płać za faktyczny czas pracy.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A6A6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847088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Wydajność
i równoległość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907792"/>
            <a:ext cx="38404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25466"/>
                </a:solidFill>
                <a:latin typeface="Aptos"/>
              </a:rPr>
              <a:t>Wiele zapytań może działać równolegle, a szybki dostęp do danych utrzymuje sprawną analizę.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42432" y="1783080"/>
            <a:ext cx="0" cy="3291840"/>
          </a:xfrm>
          <a:prstGeom prst="line">
            <a:avLst/>
          </a:prstGeom>
          <a:ln w="12700">
            <a:solidFill>
              <a:srgbClr val="B9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4800600"/>
            <a:ext cx="3474720" cy="0"/>
          </a:xfrm>
          <a:prstGeom prst="line">
            <a:avLst/>
          </a:prstGeom>
          <a:ln w="508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4800600"/>
            <a:ext cx="3474720" cy="0"/>
          </a:xfrm>
          <a:prstGeom prst="line">
            <a:avLst/>
          </a:prstGeom>
          <a:ln w="508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3000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8B6E8-9164-2D42-4C56-8C5DCFFE5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CECHY PLATFORMY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Storage i compute skalują się niezależnie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920240"/>
            <a:ext cx="4434840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11226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871216"/>
            <a:ext cx="4434840" cy="71323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9888" y="30632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"/>
              </a:rPr>
              <a:t>COMPUTE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6192" y="3822191"/>
            <a:ext cx="4434840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4014215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USŁUGI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 Display"/>
              </a:rPr>
              <a:t>Niezależne warstwy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1"/>
            <a:ext cx="48920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Skalowanie bez sprzężeń — </a:t>
            </a:r>
            <a:r>
              <a:rPr sz="1800">
                <a:solidFill>
                  <a:srgbClr val="425466"/>
                </a:solidFill>
                <a:latin typeface="Aptos"/>
              </a:rPr>
              <a:t>wydajność i koszt można dopasować osobno.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Różne typy danych — </a:t>
            </a:r>
            <a:r>
              <a:rPr sz="1800">
                <a:solidFill>
                  <a:srgbClr val="425466"/>
                </a:solidFill>
                <a:latin typeface="Aptos"/>
              </a:rPr>
              <a:t>ustrukturyzowane, pół-strukturalne i nieustrukturyzowane.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Wiele zastosowań — </a:t>
            </a:r>
            <a:r>
              <a:rPr sz="1800">
                <a:solidFill>
                  <a:srgbClr val="425466"/>
                </a:solidFill>
                <a:latin typeface="Aptos"/>
              </a:rPr>
              <a:t>analityka, aplikacje danych i AI na wspólnym fundamencie.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7939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54AD5-4D5C-F518-EFFF-1FAF83DD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C7F1"/>
                </a:solidFill>
                <a:latin typeface="Aptos"/>
              </a:rPr>
              <a:t>CECHY PLATFORMY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Automatyzacja</a:t>
            </a:r>
            <a:r>
              <a:rPr sz="30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uwalnia</a:t>
            </a:r>
            <a:r>
              <a:rPr sz="30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czas</a:t>
            </a:r>
            <a:r>
              <a:rPr sz="3000" b="1" i="0" dirty="0">
                <a:solidFill>
                  <a:srgbClr val="FFFFFF"/>
                </a:solidFill>
                <a:latin typeface="Aptos Display"/>
              </a:rPr>
              <a:t>, a </a:t>
            </a: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bezpieczeństwo</a:t>
            </a:r>
            <a:r>
              <a:rPr sz="30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pozostaje</a:t>
            </a:r>
            <a:r>
              <a:rPr sz="30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Aptos Display"/>
              </a:rPr>
              <a:t>wbudowane</a:t>
            </a:r>
            <a:endParaRPr sz="30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515509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1325880" cy="13258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"/>
              </a:rPr>
              <a:t>AUTO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202996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Zarządzanie zasobami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2532888"/>
            <a:ext cx="3566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dirty="0" err="1">
                <a:solidFill>
                  <a:srgbClr val="D4F1FA"/>
                </a:solidFill>
                <a:latin typeface="Aptos"/>
              </a:rPr>
              <a:t>Platforma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automatyzuje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wiele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zadań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operacyjnych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, aby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zespół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mógł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skupić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się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na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danych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 i </a:t>
            </a:r>
            <a:r>
              <a:rPr sz="1700" b="0" i="0" dirty="0" err="1">
                <a:solidFill>
                  <a:srgbClr val="D4F1FA"/>
                </a:solidFill>
                <a:latin typeface="Aptos"/>
              </a:rPr>
              <a:t>analizie</a:t>
            </a:r>
            <a:r>
              <a:rPr sz="1700" b="0" i="0" dirty="0">
                <a:solidFill>
                  <a:srgbClr val="D4F1FA"/>
                </a:solidFill>
                <a:latin typeface="Aptos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2011680"/>
            <a:ext cx="1325880" cy="132588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43230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029968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Bezpieczeństwo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2532888"/>
            <a:ext cx="30632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Szyfrowanie, kontrola dostępu i zgodność wspierają wymagające środowiska danych.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4434840"/>
            <a:ext cx="8961120" cy="0"/>
          </a:xfrm>
          <a:prstGeom prst="line">
            <a:avLst/>
          </a:prstGeom>
          <a:ln w="12700">
            <a:solidFill>
              <a:srgbClr val="56C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73659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6C7F1"/>
                </a:solidFill>
                <a:latin typeface="Aptos"/>
              </a:rPr>
              <a:t>Mniej administracji  →  więcej czasu na wartość biznesową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0034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58290-E017-BC33-8A3E-AB8C210B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CECHY PLATFORMY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Integracja upraszcza przepływ danych, a model usage-based wspiera kontrolę kosztów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500995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84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F33"/>
                </a:solidFill>
                <a:latin typeface="Aptos"/>
              </a:rPr>
              <a:t>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090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679A"/>
                </a:solidFill>
                <a:latin typeface="Aptos"/>
              </a:rPr>
              <a:t>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97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6A6"/>
                </a:solidFill>
                <a:latin typeface="Aptos"/>
              </a:rPr>
              <a:t>GCP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2" y="2121408"/>
            <a:ext cx="1938528" cy="1060704"/>
          </a:xfrm>
          <a:prstGeom prst="line">
            <a:avLst/>
          </a:prstGeom>
          <a:ln w="25400">
            <a:solidFill>
              <a:srgbClr val="B9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93392" y="3227832"/>
            <a:ext cx="1938528" cy="0"/>
          </a:xfrm>
          <a:prstGeom prst="line">
            <a:avLst/>
          </a:prstGeom>
          <a:ln w="254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93392" y="3273552"/>
            <a:ext cx="1938528" cy="1060704"/>
          </a:xfrm>
          <a:prstGeom prst="line">
            <a:avLst/>
          </a:prstGeom>
          <a:ln w="25400">
            <a:solidFill>
              <a:srgbClr val="B9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840480" y="2331720"/>
            <a:ext cx="1783080" cy="1783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303580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3"/>
                </a:solidFill>
                <a:latin typeface="Aptos"/>
              </a:rPr>
              <a:t>SNOWFLAKE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3227832"/>
            <a:ext cx="1069848" cy="0"/>
          </a:xfrm>
          <a:prstGeom prst="line">
            <a:avLst/>
          </a:prstGeom>
          <a:ln w="38100">
            <a:solidFill>
              <a:srgbClr val="29B5E8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31152" y="2990088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BI • DATA SCIENCE •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3749039"/>
            <a:ext cx="4343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25466"/>
                </a:solidFill>
                <a:latin typeface="Aptos"/>
              </a:rPr>
              <a:t>Model kosztowy oparty na faktycznym zużyciu zasobów.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3178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30DDC-E6EC-DEDA-D9CB-E38DC882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CECHY PLATFORMY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Snowflake rozszerza analitykę o aplikacje transakcyjne i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B5E8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F33"/>
                </a:solidFill>
                <a:latin typeface="Aptos Display"/>
              </a:rPr>
              <a:t>UNISTORE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63824"/>
            <a:ext cx="2880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OLTP + OLAP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4160520"/>
            <a:ext cx="2606040" cy="0"/>
          </a:xfrm>
          <a:prstGeom prst="line">
            <a:avLst/>
          </a:prstGeom>
          <a:ln w="381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19568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A6A6"/>
                </a:solidFill>
                <a:latin typeface="Aptos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0604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F33"/>
                </a:solidFill>
                <a:latin typeface="Aptos Display"/>
              </a:rPr>
              <a:t>ARCTIC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163824"/>
            <a:ext cx="2880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własny model językowy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4160520"/>
            <a:ext cx="260604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45552" y="19568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B5E8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60604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F33"/>
                </a:solidFill>
                <a:latin typeface="Aptos Display"/>
              </a:rPr>
              <a:t>CORTEX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163824"/>
            <a:ext cx="2880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gotowe funkcje AI/ML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5552" y="4160520"/>
            <a:ext cx="2606040" cy="0"/>
          </a:xfrm>
          <a:prstGeom prst="line">
            <a:avLst/>
          </a:prstGeom>
          <a:ln w="381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983480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679A"/>
                </a:solidFill>
                <a:latin typeface="Aptos"/>
              </a:rPr>
              <a:t>Jedna platforma, coraz szerszy zakres workloadów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052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-694944"/>
            <a:ext cx="3566160" cy="356616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56C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29B5E8"/>
                </a:solidFill>
                <a:latin typeface="Aptos Display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8046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Architektura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93008"/>
            <a:ext cx="7178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4F1FA"/>
                </a:solidFill>
                <a:latin typeface="Aptos"/>
              </a:rPr>
              <a:t>Trzy niezależne warstwy współpracują jako jeden system: storage, compute i cloud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983480"/>
            <a:ext cx="1143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7030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9CF86-5196-FBCA-FD5C-E36A0758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ARCHITEKTURA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Rozdzielenie warstw pozwala skalować koszt i wydajność niezależnie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2966" y="1550446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" y="1865376"/>
            <a:ext cx="10561320" cy="8321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02082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CLOUD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020824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Optymalizacja • metadane • bezpieczeństwo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054096"/>
            <a:ext cx="10561320" cy="83210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20954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"/>
              </a:rPr>
              <a:t>COMPUTE — VIRTUAL WAREHOUSES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209544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F33"/>
                </a:solidFill>
                <a:latin typeface="Aptos"/>
              </a:rPr>
              <a:t>Izolowane klastry per workload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242816"/>
            <a:ext cx="10561320" cy="832104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39826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398264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Mikropartycje w magazynie obiektowym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25466"/>
                </a:solidFill>
                <a:latin typeface="Aptos"/>
              </a:rPr>
              <a:t>Wspólna warstwa usług koordynuje niezależne zasoby obliczeniowe i dane.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2807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824EC-86E2-C384-700B-10FC15E4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STORAGE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Mikropartycje i metadane przyspieszają dostęp do danych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STORAGE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Magazyn obiektowy — </a:t>
            </a:r>
            <a:r>
              <a:rPr sz="1800">
                <a:solidFill>
                  <a:srgbClr val="425466"/>
                </a:solidFill>
                <a:latin typeface="Aptos"/>
              </a:rPr>
              <a:t>S3, Azure Blob lub GCS; dane są kolumnowe i skompresowane.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Mikropartycje — </a:t>
            </a:r>
            <a:r>
              <a:rPr sz="1800">
                <a:solidFill>
                  <a:srgbClr val="425466"/>
                </a:solidFill>
                <a:latin typeface="Aptos"/>
              </a:rPr>
              <a:t>automatyczny podział danych ułatwia równoległy odczyt.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Metadane min/max — </a:t>
            </a:r>
            <a:r>
              <a:rPr sz="1800">
                <a:solidFill>
                  <a:srgbClr val="425466"/>
                </a:solidFill>
                <a:latin typeface="Aptos"/>
              </a:rPr>
              <a:t>optimizer pomija zbędne fragmenty dzięki pruningowi.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492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CE703-330B-2DED-5DE8-29865416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STORAGE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Ochrona historii i otwarte formaty poszerzają zastosowania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STORAGE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Time Travel — </a:t>
            </a:r>
            <a:r>
              <a:rPr sz="1800">
                <a:solidFill>
                  <a:srgbClr val="425466"/>
                </a:solidFill>
                <a:latin typeface="Aptos"/>
              </a:rPr>
              <a:t>odczyt i odtwarzanie wcześniejszych wersji danych.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Fail-safe — </a:t>
            </a:r>
            <a:r>
              <a:rPr sz="1800">
                <a:solidFill>
                  <a:srgbClr val="425466"/>
                </a:solidFill>
                <a:latin typeface="Aptos"/>
              </a:rPr>
              <a:t>dodatkowa warstwa odzyskiwania po zakończeniu Time Travel.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Dane pół-strukturalne — </a:t>
            </a:r>
            <a:r>
              <a:rPr sz="1800">
                <a:solidFill>
                  <a:srgbClr val="425466"/>
                </a:solidFill>
                <a:latin typeface="Aptos"/>
              </a:rPr>
              <a:t>VARIANT obsługuje JSON, Parquet, Avro, ORC i XML.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0A6A6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External Tables — </a:t>
            </a:r>
            <a:r>
              <a:rPr sz="1800">
                <a:solidFill>
                  <a:srgbClr val="425466"/>
                </a:solidFill>
                <a:latin typeface="Aptos"/>
              </a:rPr>
              <a:t>analiza danych bez fizycznego ładowania do storage Snowflake.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08786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5D929-D7D3-7553-694A-73933B40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COMPUTE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Każdy workload może działać na własnym warehouse’ie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COMPUTE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Izolacja — </a:t>
            </a:r>
            <a:r>
              <a:rPr sz="1800">
                <a:solidFill>
                  <a:srgbClr val="425466"/>
                </a:solidFill>
                <a:latin typeface="Aptos"/>
              </a:rPr>
              <a:t>warehouse ma własne CPU i pamięć; nie konkuruje z innymi klastrami.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Niezależność — </a:t>
            </a:r>
            <a:r>
              <a:rPr sz="1800">
                <a:solidFill>
                  <a:srgbClr val="425466"/>
                </a:solidFill>
                <a:latin typeface="Aptos"/>
              </a:rPr>
              <a:t>zasoby można uruchamiać, skalować i zatrzymywać per workload.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Dopasowanie — </a:t>
            </a:r>
            <a:r>
              <a:rPr sz="1800">
                <a:solidFill>
                  <a:srgbClr val="425466"/>
                </a:solidFill>
                <a:latin typeface="Aptos"/>
              </a:rPr>
              <a:t>rozmiary i autoskalowanie odpowiadają na poziom ruchu.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58676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BA244-3137-BA2A-32F3-DC33CAC0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COMPUTE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Równoległość ogranicza kolejki i stabilizuje wydajność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COMPUTE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Wiele warehouse’ów — </a:t>
            </a:r>
            <a:r>
              <a:rPr sz="1800">
                <a:solidFill>
                  <a:srgbClr val="425466"/>
                </a:solidFill>
                <a:latin typeface="Aptos"/>
              </a:rPr>
              <a:t>jednoczesna praca na tych samych danych bez blokad I/O.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Profile rozmiarów — </a:t>
            </a:r>
            <a:r>
              <a:rPr sz="1800">
                <a:solidFill>
                  <a:srgbClr val="425466"/>
                </a:solidFill>
                <a:latin typeface="Aptos"/>
              </a:rPr>
              <a:t>od XS do 6XL, zależnie od obciążenia.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9B5E8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Rozliczanie za czas — </a:t>
            </a:r>
            <a:r>
              <a:rPr sz="1800">
                <a:solidFill>
                  <a:srgbClr val="425466"/>
                </a:solidFill>
                <a:latin typeface="Aptos"/>
              </a:rPr>
              <a:t>compute zużywa kredyty tylko podczas działania.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779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2C66C-13DE-8297-38FF-07DB855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CLOUD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Warstwa usług jest centralnym „mózgiem” platformy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17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CLOUD SERVICES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Query optimizer — </a:t>
            </a:r>
            <a:r>
              <a:rPr sz="1800">
                <a:solidFill>
                  <a:srgbClr val="425466"/>
                </a:solidFill>
                <a:latin typeface="Aptos"/>
              </a:rPr>
              <a:t>planowanie, pruning i pushdown dla szybszego wykonania.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Metadane i katalog — </a:t>
            </a:r>
            <a:r>
              <a:rPr sz="1800">
                <a:solidFill>
                  <a:srgbClr val="425466"/>
                </a:solidFill>
                <a:latin typeface="Aptos"/>
              </a:rPr>
              <a:t>zarządzanie obiektami, sesjami i kontrolą dostępu.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Orkiestracja — </a:t>
            </a:r>
            <a:r>
              <a:rPr sz="1800">
                <a:solidFill>
                  <a:srgbClr val="425466"/>
                </a:solidFill>
                <a:latin typeface="Aptos"/>
              </a:rPr>
              <a:t>koordynacja transakcji oraz zgodność ACID.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09782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93D8-A129-6F8E-4FD6-2D066770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CLOUD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Bezpieczeństwo i governance są częścią architektury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73352"/>
            <a:ext cx="3337560" cy="5184648"/>
          </a:xfrm>
          <a:prstGeom prst="rect">
            <a:avLst/>
          </a:prstGeom>
          <a:solidFill>
            <a:srgbClr val="17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 Display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9272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CLOUD SERVICES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215384"/>
            <a:ext cx="19385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7639" y="1856231"/>
            <a:ext cx="7223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Ochrona danych — </a:t>
            </a:r>
            <a:r>
              <a:rPr sz="1800">
                <a:solidFill>
                  <a:srgbClr val="425466"/>
                </a:solidFill>
                <a:latin typeface="Aptos"/>
              </a:rPr>
              <a:t>szyfrowanie in transit i at rest oraz zarządzanie kluczami.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Tożsamość — </a:t>
            </a:r>
            <a:r>
              <a:rPr sz="1800">
                <a:solidFill>
                  <a:srgbClr val="425466"/>
                </a:solidFill>
                <a:latin typeface="Aptos"/>
              </a:rPr>
              <a:t>SSO, OAuth, SCIM, RBAC i polityki dostępu.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Udostępnianie — </a:t>
            </a:r>
            <a:r>
              <a:rPr sz="1800">
                <a:solidFill>
                  <a:srgbClr val="425466"/>
                </a:solidFill>
                <a:latin typeface="Aptos"/>
              </a:rPr>
              <a:t>Secure Data Sharing i Marketplace bez kopiowania danych.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7679A"/>
                </a:solidFill>
                <a:latin typeface="Aptos"/>
              </a:rPr>
              <a:t>•  </a:t>
            </a:r>
            <a:r>
              <a:rPr sz="1800" b="1">
                <a:solidFill>
                  <a:srgbClr val="425466"/>
                </a:solidFill>
                <a:latin typeface="Aptos"/>
              </a:rPr>
              <a:t>Governance — </a:t>
            </a:r>
            <a:r>
              <a:rPr sz="1800">
                <a:solidFill>
                  <a:srgbClr val="425466"/>
                </a:solidFill>
                <a:latin typeface="Aptos"/>
              </a:rPr>
              <a:t>tagowanie, lineage, klasyfikacja i polityki zgodności.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23077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ROZSZERZENIA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Rozszerzenia przenoszą Snowflake poza klasyczną hurtownię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847088"/>
            <a:ext cx="6583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9B5E8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84708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Unistore i Hybrid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47088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Workloady mieszane OLTP + OLAP na tych samych danych.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88336"/>
            <a:ext cx="10195560" cy="0"/>
          </a:xfrm>
          <a:prstGeom prst="line">
            <a:avLst/>
          </a:prstGeom>
          <a:ln w="12700">
            <a:solidFill>
              <a:srgbClr val="B9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" y="3063240"/>
            <a:ext cx="6583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9B5E8"/>
                </a:solidFill>
                <a:latin typeface="Aptos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06324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Streams &amp;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063240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CDC i harmonogramowane zadania budują potoki ELT.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904488"/>
            <a:ext cx="10195560" cy="0"/>
          </a:xfrm>
          <a:prstGeom prst="line">
            <a:avLst/>
          </a:prstGeom>
          <a:ln w="12700">
            <a:solidFill>
              <a:srgbClr val="B9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4279392"/>
            <a:ext cx="6583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9B5E8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27939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Snowpark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79392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API dla Python, Java i Scala uruchamiane blisko danych.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0898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E1106-BBB9-D9D7-0C33-D76A3774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ROZSZERZENIA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Optymalizacja, lakehouse i integracje domykają ekosystem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4825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51760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Materialized Views + Search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11880"/>
            <a:ext cx="3246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Szybsze zapytania punktowe, tekstowe i powtarzalne agregacje.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5074920"/>
            <a:ext cx="3044952" cy="0"/>
          </a:xfrm>
          <a:prstGeom prst="line">
            <a:avLst/>
          </a:prstGeom>
          <a:ln w="381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44568" y="192024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04825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51760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Wzorzec data lakehouse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611880"/>
            <a:ext cx="3246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External tables i internal tables w jednym punkcie dostępu SQL.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44568" y="5074920"/>
            <a:ext cx="3044952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39328" y="192024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04825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51760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Integracje chmurowe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611880"/>
            <a:ext cx="3246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Natywna współpraca z AWS, Azure i GCP oraz bezpieczna łączność.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9328" y="5074920"/>
            <a:ext cx="3044952" cy="0"/>
          </a:xfrm>
          <a:prstGeom prst="line">
            <a:avLst/>
          </a:prstGeom>
          <a:ln w="381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361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27599-5112-8EC3-B271-2395060A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PRZEPŁYW ZAPYTANIA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Zapytanie przechodzi od autoryzacji do wykonania w czterech krokach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2221992"/>
            <a:ext cx="667512" cy="667512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04872"/>
            <a:ext cx="667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9" y="3127248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 Display"/>
              </a:rPr>
              <a:t>KLIENT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3602736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Wysyła 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26464" y="2560320"/>
            <a:ext cx="1792223" cy="0"/>
          </a:xfrm>
          <a:prstGeom prst="line">
            <a:avLst/>
          </a:prstGeom>
          <a:ln w="25400">
            <a:solidFill>
              <a:srgbClr val="B9DDE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93008" y="2221992"/>
            <a:ext cx="667512" cy="667512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2404872"/>
            <a:ext cx="667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127248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 Display"/>
              </a:rPr>
              <a:t>USŁUGI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602736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Uwierzytelniają i planują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79392" y="2560320"/>
            <a:ext cx="1792224" cy="0"/>
          </a:xfrm>
          <a:prstGeom prst="line">
            <a:avLst/>
          </a:prstGeom>
          <a:ln w="25400">
            <a:solidFill>
              <a:srgbClr val="B9DDE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5936" y="2221992"/>
            <a:ext cx="667512" cy="667512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2404872"/>
            <a:ext cx="667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127248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 Display"/>
              </a:rPr>
              <a:t>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602736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Wykonuje plan równolegle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2560320"/>
            <a:ext cx="1792224" cy="0"/>
          </a:xfrm>
          <a:prstGeom prst="line">
            <a:avLst/>
          </a:prstGeom>
          <a:ln w="25400">
            <a:solidFill>
              <a:srgbClr val="B9DDE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98863" y="2221992"/>
            <a:ext cx="667512" cy="6675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3" y="2404872"/>
            <a:ext cx="667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3127248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 Display"/>
              </a:rPr>
              <a:t>WYNIK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3" y="3602736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Wraca do klienta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974336"/>
            <a:ext cx="10881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679A"/>
                </a:solidFill>
                <a:latin typeface="Aptos"/>
              </a:rPr>
              <a:t>Optimizer wybiera potrzebne mikropartycje, a metadane aktualizują się po wykonaniu.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7743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52F7C-A97E-B77E-E41A-0D1ED3E5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C7F1"/>
                </a:solidFill>
                <a:latin typeface="Aptos"/>
              </a:rPr>
              <a:t>DLACZEGO TO CENIONE ROZWIĄZANIE?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Snowflake łączy przewidywalną wydajność z mniejszym ciężarem operacyjnym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" y="1556632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56816"/>
            <a:ext cx="621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6C7F1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Izolacja workloadów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02736"/>
            <a:ext cx="32186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Niezależne skalowanie compute i storage.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5001768"/>
            <a:ext cx="3108960" cy="0"/>
          </a:xfrm>
          <a:prstGeom prst="line">
            <a:avLst/>
          </a:prstGeom>
          <a:ln w="38100">
            <a:solidFill>
              <a:srgbClr val="56C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53712" y="1956816"/>
            <a:ext cx="621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A6A6"/>
                </a:solidFill>
                <a:latin typeface="Aptos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697480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Fully managed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602736"/>
            <a:ext cx="32186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Brak utrzymania infrastruktury.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53712" y="5001768"/>
            <a:ext cx="3108959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75904" y="1956816"/>
            <a:ext cx="621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6C7F1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697480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Jeden silnik danych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02736"/>
            <a:ext cx="32186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Dane strukturalne i pół-strukturalne + governance.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75904" y="5001768"/>
            <a:ext cx="3108960" cy="0"/>
          </a:xfrm>
          <a:prstGeom prst="line">
            <a:avLst/>
          </a:prstGeom>
          <a:ln w="38100">
            <a:solidFill>
              <a:srgbClr val="56C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7647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-694944"/>
            <a:ext cx="3566160" cy="356616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56C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29B5E8"/>
                </a:solidFill>
                <a:latin typeface="Aptos Display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8046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Edycje i kontrola kosztów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93008"/>
            <a:ext cx="7178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4F1FA"/>
                </a:solidFill>
                <a:latin typeface="Aptos"/>
              </a:rPr>
              <a:t>Wybierz właściwy zestaw funkcji, rozumiej źródła kosztu i zabezpiecz środowisko kursowe.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983480"/>
            <a:ext cx="1143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4F1FA"/>
                </a:solidFill>
                <a:latin typeface="Aptos"/>
              </a:rPr>
              <a:t>Źródło: Snowflake Documentation — Editions, Costs, Budgets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EDYCJE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Edycja określa zakres funkcji i poziom ochrony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270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EDYCJA</a:t>
                      </a:r>
                    </a:p>
                  </a:txBody>
                  <a:tcPr marT="54864" marB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ZASTOSOWANIE</a:t>
                      </a:r>
                    </a:p>
                  </a:txBody>
                  <a:tcPr marT="54864" marB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PRZYKŁADOWE FUNKCJE</a:t>
                      </a:r>
                    </a:p>
                  </a:txBody>
                  <a:tcPr marT="54864" marB="54864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3"/>
                          </a:solidFill>
                          <a:latin typeface="Aptos"/>
                        </a:rPr>
                        <a:t>Standard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Podstawy i nauka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SQL, warehouse’y, Snowpark, Streamlit, dynamic tables; Time Travel do 1 dnia.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3"/>
                          </a:solidFill>
                          <a:latin typeface="Aptos"/>
                        </a:rPr>
                        <a:t>Enterprise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Produkcja i szerszy kurs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Standard + multi-cluster, materialized views, masking/row access; Time Travel do 90 dni.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3"/>
                          </a:solidFill>
                          <a:latin typeface="Aptos"/>
                        </a:rPr>
                        <a:t>Business Critical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Podwyższona ochrona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Enterprise + prywatna łączność, zaawansowana ochrona i failover/failback.</a:t>
                      </a:r>
                    </a:p>
                  </a:txBody>
                  <a:tcPr marT="54864" marB="54864" anchor="ctr">
                    <a:solidFill>
                      <a:srgbClr val="E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F33"/>
                          </a:solidFill>
                          <a:latin typeface="Aptos"/>
                        </a:rPr>
                        <a:t>Virtual Private Snowflake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Najwyższa izolacja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25466"/>
                          </a:solidFill>
                          <a:latin typeface="Aptos"/>
                        </a:rPr>
                        <a:t>Business Critical w odseparowanym środowisku Snowflake.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533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9A"/>
                </a:solidFill>
                <a:latin typeface="Aptos"/>
              </a:rPr>
              <a:t>Do szerokiego kursu: Enterprise trial. Do podstaw SQL i ładowania danych: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8797"/>
                </a:solidFill>
                <a:latin typeface="Aptos"/>
              </a:rPr>
              <a:t>Źródło: Snowflake Documentation — Editions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NAJWAŻNIEJSZE ROZRÓŻNIENIE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Edycja ustala funkcje; warehouse ustala tempo zużycia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7830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679A"/>
                </a:solidFill>
                <a:latin typeface="Aptos"/>
              </a:rPr>
              <a:t>EDYCJA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37947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Zestaw funkcji
i cena jednostkowa kredytu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2386584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9B5E8"/>
                </a:solidFill>
                <a:latin typeface="Aptos Display"/>
              </a:rPr>
              <a:t>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2896" y="17830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679A"/>
                </a:solidFill>
                <a:latin typeface="Aptos"/>
              </a:rPr>
              <a:t>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2896" y="2267712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Moc obliczeniowa
i tempo zużycia kredytów</a:t>
            </a:r>
          </a:p>
        </p:txBody>
      </p:sp>
      <p:graphicFrame>
        <p:nvGraphicFramePr>
          <p:cNvPr id="10" name="Chart 9" descr="Chart"/>
          <p:cNvGraphicFramePr>
            <a:graphicFrameLocks noGrp="1"/>
          </p:cNvGraphicFramePr>
          <p:nvPr/>
        </p:nvGraphicFramePr>
        <p:xfrm>
          <a:off x="7927848" y="1755648"/>
          <a:ext cx="3493008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9808" y="3977639"/>
            <a:ext cx="65379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25466"/>
                </a:solidFill>
                <a:latin typeface="Aptos"/>
              </a:rPr>
              <a:t>„Business” nie jest nazwą edycji — poprawna nazwa to Business Critical.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974336"/>
            <a:ext cx="6675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679A"/>
                </a:solidFill>
                <a:latin typeface="Aptos"/>
              </a:rPr>
              <a:t>Rozliczanie sekundowe • minimum 60 s na każde uruchomienie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8797"/>
                </a:solidFill>
                <a:latin typeface="Aptos"/>
              </a:rPr>
              <a:t>Źródło: Snowflake Documentation — Editions; Warehouses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MODEL CENOWY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Koszt powstaje w czterech niezależnych obszarach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9B5E8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Warehouse’y: rozmiar × klastry × czas działania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956048"/>
            <a:ext cx="2331720" cy="0"/>
          </a:xfrm>
          <a:prstGeom prst="line">
            <a:avLst/>
          </a:prstGeom>
          <a:ln w="50800">
            <a:solidFill>
              <a:srgbClr val="29B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38728" y="17830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A6A6"/>
                </a:solidFill>
                <a:latin typeface="Aptos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4688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310128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Średnia miesięczna ilość przechowywanych danych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38728" y="4956048"/>
            <a:ext cx="2331720" cy="0"/>
          </a:xfrm>
          <a:prstGeom prst="line">
            <a:avLst/>
          </a:prstGeom>
          <a:ln w="508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91656" y="17830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679A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4688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310128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Wybrane transfery wychodzące między regionami lub chmurami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91656" y="4956048"/>
            <a:ext cx="2331720" cy="0"/>
          </a:xfrm>
          <a:prstGeom prst="line">
            <a:avLst/>
          </a:prstGeom>
          <a:ln w="50800">
            <a:solidFill>
              <a:srgbClr val="176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44584" y="17830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1F33"/>
                </a:solidFill>
                <a:latin typeface="Aptos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24688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SERVERLESS +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3310128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466"/>
                </a:solidFill>
                <a:latin typeface="Aptos"/>
              </a:rPr>
              <a:t>Snowpipe i inne usługi; AI Credits i Platform Credits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44584" y="4956048"/>
            <a:ext cx="2331720" cy="0"/>
          </a:xfrm>
          <a:prstGeom prst="line">
            <a:avLst/>
          </a:prstGeom>
          <a:ln w="50800">
            <a:solidFill>
              <a:srgbClr val="0B1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5513832"/>
            <a:ext cx="106527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679A"/>
                </a:solidFill>
                <a:latin typeface="Aptos"/>
              </a:rPr>
              <a:t>Cena Platform Credit zależy od edycji, regionu i modelu zakupu — nie ma jednej uniwersalnej kwoty.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8797"/>
                </a:solidFill>
                <a:latin typeface="Aptos"/>
              </a:rPr>
              <a:t>Źródło: Snowflake Documentation — Understanding overall cost; Cortex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C7F1"/>
                </a:solidFill>
                <a:latin typeface="Aptos"/>
              </a:rPr>
              <a:t>GDZIE SPRAWDZAĆ KOSZTY?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Koszty monitoruj w Snowsight i ACCOUNT_USAGE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6C7F1"/>
                </a:solidFill>
                <a:latin typeface="Aptos Display"/>
              </a:rPr>
              <a:t>ADMIN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95728" y="2066543"/>
            <a:ext cx="731520" cy="0"/>
          </a:xfrm>
          <a:prstGeom prst="line">
            <a:avLst/>
          </a:prstGeom>
          <a:ln w="25400">
            <a:solidFill>
              <a:srgbClr val="56C7F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9272" y="1874519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COST MANAGEMENT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2066543"/>
            <a:ext cx="731520" cy="0"/>
          </a:xfrm>
          <a:prstGeom prst="line">
            <a:avLst/>
          </a:prstGeom>
          <a:ln w="25400">
            <a:solidFill>
              <a:srgbClr val="56C7F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14032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6C7F1"/>
                </a:solidFill>
                <a:latin typeface="Aptos Display"/>
              </a:rPr>
              <a:t>ANALIZA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7180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Account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Szybki przegląd wydatków i nietypowych wzrostów.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8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529584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Rozbicie według okresu i typu kosztu: compute, storage, transfer.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97180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Widoki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529584"/>
            <a:ext cx="2880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F1FA"/>
                </a:solidFill>
                <a:latin typeface="Aptos"/>
              </a:rPr>
              <a:t>ACCOUNT_USAGE
ORGANIZATION_USAGE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983480"/>
            <a:ext cx="10204704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294376"/>
            <a:ext cx="102047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6C7F1"/>
                </a:solidFill>
                <a:latin typeface="Aptos"/>
              </a:rPr>
              <a:t>Dane kosztowe mogą być opóźnione do 72 godzin — to nie jest licznik czasu rzeczywistego.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4F1FA"/>
                </a:solidFill>
                <a:latin typeface="Aptos"/>
              </a:rPr>
              <a:t>Źródło: Snowflake Documentation — Exploring overall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4F1FA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KONTROLA KOSZTÓW NA KURSIE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Trzy mechanizmy ograniczają ryzyko niekontrolowanego zużycia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847088"/>
            <a:ext cx="640080" cy="640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0662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AUTO-SUSPEND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0156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Zatrzymuje bezczynny warehouse. Zacznij od małego rozmiaru.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7056" y="2157984"/>
            <a:ext cx="493776" cy="0"/>
          </a:xfrm>
          <a:prstGeom prst="line">
            <a:avLst/>
          </a:prstGeom>
          <a:ln w="25400">
            <a:solidFill>
              <a:srgbClr val="B9DDE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53712" y="1847088"/>
            <a:ext cx="640080" cy="64008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0391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0662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0156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Ostrzega o prognozowanym przekroczeniu miesięcznego limitu.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60" y="2157984"/>
            <a:ext cx="493776" cy="0"/>
          </a:xfrm>
          <a:prstGeom prst="line">
            <a:avLst/>
          </a:prstGeom>
          <a:ln w="25400">
            <a:solidFill>
              <a:srgbClr val="B9DDE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57616" y="1847088"/>
            <a:ext cx="640080" cy="640080"/>
          </a:xfrm>
          <a:prstGeom prst="ellipse">
            <a:avLst/>
          </a:prstGeom>
          <a:solidFill>
            <a:srgbClr val="17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7616" y="20391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70662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RESOURCE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40156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25466"/>
                </a:solidFill>
                <a:latin typeface="Aptos"/>
              </a:rPr>
              <a:t>Śledzi kredyty warehouse’ów i może je wstrzymać po osiągnięciu progu.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9011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679A"/>
                </a:solidFill>
                <a:latin typeface="Aptos"/>
              </a:rPr>
              <a:t>Budget = alert, nie twarde odcięcie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901184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679A"/>
                </a:solidFill>
                <a:latin typeface="Aptos"/>
              </a:rPr>
              <a:t>Resource Monitor nie obejmuje serverless 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8797"/>
                </a:solidFill>
                <a:latin typeface="Aptos"/>
              </a:rPr>
              <a:t>Źródło: Snowflake Documentation — Budgets; Resource monitors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79A"/>
                </a:solidFill>
                <a:latin typeface="Aptos"/>
              </a:rPr>
              <a:t>REKOMENDACJA DLA KURSU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1018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F33"/>
                </a:solidFill>
                <a:latin typeface="Aptos Display"/>
              </a:rPr>
              <a:t>Najbezpieczniejszy start łączy funkcje Enterprise z małym warehouse’em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19787"/>
            <a:ext cx="7772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679A"/>
                </a:solidFill>
                <a:latin typeface="Aptos Display"/>
              </a:rPr>
              <a:t>ENTERPRISE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9B5E8"/>
                </a:solidFill>
                <a:latin typeface="Aptos Display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679A"/>
                </a:solidFill>
                <a:latin typeface="Aptos Display"/>
              </a:rPr>
              <a:t>MAŁY WAREHOUSE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2880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9B5E8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18288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679A"/>
                </a:solidFill>
                <a:latin typeface="Aptos Display"/>
              </a:rPr>
              <a:t>AUTO-SUSPEND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496312"/>
            <a:ext cx="10369296" cy="91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926080"/>
            <a:ext cx="1036929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Regularnie sprawdzaj Cost management i traktuj Budget + Resource Monitor jako dwa różne zabezpieczenia.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679A"/>
                </a:solidFill>
                <a:latin typeface="Aptos"/>
              </a:rPr>
              <a:t>ŹRÓDŁA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590288"/>
            <a:ext cx="102870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25466"/>
                </a:solidFill>
                <a:latin typeface="Aptos"/>
              </a:rPr>
              <a:t>Snowflake Editions  •  Warehouses Overview  •  Understanding Overall Cost
Exploring Overall Cost  •  Budgets  •  Resource Monitors  •  Cortex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8797"/>
                </a:solidFill>
                <a:latin typeface="Aptos"/>
              </a:rPr>
              <a:t>Materiały źródłowe: oficjalna dokumentacja Snowflake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419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797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1363</Words>
  <Application>Microsoft Office PowerPoint</Application>
  <PresentationFormat>Panoramiczny</PresentationFormat>
  <Paragraphs>277</Paragraphs>
  <Slides>27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Przemyslaw Starosta</dc:creator>
  <cp:lastModifiedBy>Przemyslaw Starosta</cp:lastModifiedBy>
  <cp:revision>1</cp:revision>
  <dcterms:created xsi:type="dcterms:W3CDTF">2026-09-27T10:33:51Z</dcterms:created>
  <dcterms:modified xsi:type="dcterms:W3CDTF">2026-10-02T06:00:31Z</dcterms:modified>
</cp:coreProperties>
</file>